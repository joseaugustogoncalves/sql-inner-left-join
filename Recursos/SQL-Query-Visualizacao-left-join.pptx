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2384"/>
    <a:srgbClr val="64EFFA"/>
    <a:srgbClr val="FFE43F"/>
    <a:srgbClr val="F67E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589"/>
  </p:normalViewPr>
  <p:slideViewPr>
    <p:cSldViewPr snapToGrid="0">
      <p:cViewPr varScale="1">
        <p:scale>
          <a:sx n="120" d="100"/>
          <a:sy n="120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C0E9-B681-075D-3ED1-BE8B9B347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83492-10F4-1047-E0A5-5E4CEB7D5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57608-06D5-7DDF-F153-ED61224F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C52F5-D037-2EE4-938F-0E8CBCF5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555E7-1422-F106-DCBC-43012737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5769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FEE2-E1EE-4CB2-C22F-88BCEE98D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45776-C8C6-4FEA-DB94-5882721D1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ADEF2-EA9F-CA84-C19C-AF7ED443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93E6C-A167-5891-C025-24274A4A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F7D9-C1EA-8FC5-0A6C-0FD0FC14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0873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6146-90DF-B740-B412-2209744A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04865-F6C0-E7C1-E788-38F69931D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846C8-709E-4117-9238-A7E7C835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A0EEF-55DE-D335-37DD-8D63C7BEA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78195-6B1D-08A0-EBEB-E3BA4464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0714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A123-B5B4-BE0E-3458-F977BC39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EEFE-F9FA-4ACE-908C-7F5135D4D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4CC71-6E0A-CBE8-5992-2D08B2EAD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1DAE6-AC92-164A-8D9A-DE7648B5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C2D43-1F09-3FAE-B064-17692C15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A3928-0856-72A5-8963-CF3BBC7B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8697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BC21-3857-A2F9-6FE4-EA857A2A0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3FA6B-DDFC-CF42-98F3-4DFDCCD06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C5AF0-344B-E46C-6D8A-52E1CB827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A7A7B-D206-C735-AE16-458BE453A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0827BE-A2CA-10F1-4988-EFBD7BF49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478D5-B706-D7DB-63D5-22A76D2B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40C0A-A6C1-688E-1BFB-318F7433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7D0267-7E25-201E-7A97-D9A8B133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9115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0F4C-61E1-C36C-0C13-72EC2FC1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EC95E-BA35-DE8D-3338-4F864AD2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49DCB-E5D5-B6DC-7B42-1BBFBA78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7AE93-0189-8DAE-AC7A-EE6AFAA3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57746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B4801-74C2-8A30-2F50-6AC08D0C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07C0E-EABA-4AFB-56FF-CAF80C7A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AF3C0-36F9-E361-3766-D4EFA39E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2744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201A-583C-A71B-CCEF-C04FEC0C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CD72C-D79D-9E92-0995-6E488BC22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D4588-A7D5-23A8-E87A-78C622CE5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A5E5B-A737-A0DE-1C97-EA27F0A5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30016-F479-BDF3-E893-9295D4A1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8B495-0A69-A4A2-BB13-B67E2C02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78553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7E55-D442-2354-141B-EDF7F765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A4773E-B738-8849-3087-1A383B576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06AF4-2E3A-7E6B-9B8C-9D7CE4BF4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F48FF-0B51-FD74-45E1-A3D00B8D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0906F-CA71-7692-BBC3-18E4A5DF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E6310-E767-EF6D-F0DA-31CF3B10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3298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2272-E17C-BBE5-FAF9-DFEEE8B32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9FD64-BC78-6A5C-6D0B-9643EA261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1773D-0852-5037-0BAD-A97324EA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61887-3782-351A-7529-AF9E41D2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A992C-46BE-A7C6-ED85-CADEF005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1770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EE5EDB-AF19-0752-8A66-30C0C2018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A3D7B-B48C-4A95-A99F-B6DFCA10A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8D7BC-3549-E32C-588A-EED8DAEE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ECB40-EF8D-D595-C6CC-4E85AB36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AA8C7-8790-843C-A368-ADE8AC45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979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1954F-F8DE-2139-F5EC-70DB02C1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7165E-A876-A236-1A42-CE709EC98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99787-3EE9-6119-311D-1755A4D44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8E6E1-CD9A-7D43-BD9D-4A2C51116C61}" type="datetimeFigureOut">
              <a:rPr lang="en-PT" smtClean="0"/>
              <a:t>14/04/2026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3EF72-0A25-B8F0-C37C-BC7630427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8754-45C6-6D33-2829-31C9A77BC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9266B-C301-A340-91AF-038308ED5CA9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8230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F70D18-FAEC-14D7-8B3B-860787CF438B}"/>
              </a:ext>
            </a:extLst>
          </p:cNvPr>
          <p:cNvGrpSpPr/>
          <p:nvPr/>
        </p:nvGrpSpPr>
        <p:grpSpPr>
          <a:xfrm>
            <a:off x="393700" y="1384379"/>
            <a:ext cx="5609228" cy="3478673"/>
            <a:chOff x="504537" y="1211303"/>
            <a:chExt cx="5609228" cy="3478673"/>
          </a:xfrm>
        </p:grpSpPr>
        <p:pic>
          <p:nvPicPr>
            <p:cNvPr id="8" name="Picture 7" descr="A black background with white lines and red text&#10;&#10;Description automatically generated">
              <a:extLst>
                <a:ext uri="{FF2B5EF4-FFF2-40B4-BE49-F238E27FC236}">
                  <a16:creationId xmlns:a16="http://schemas.microsoft.com/office/drawing/2014/main" id="{DC24B1AA-3545-2A36-5BCD-CB46EC851C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99787" y="1969760"/>
              <a:ext cx="2586759" cy="272021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0CE4B6-C728-A8A9-DB0E-76B415945A7D}"/>
                </a:ext>
              </a:extLst>
            </p:cNvPr>
            <p:cNvSpPr txBox="1"/>
            <p:nvPr/>
          </p:nvSpPr>
          <p:spPr>
            <a:xfrm>
              <a:off x="504537" y="1211303"/>
              <a:ext cx="56092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b="1" dirty="0">
                  <a:solidFill>
                    <a:srgbClr val="022384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SQL QUERY – Visualização</a:t>
              </a:r>
              <a:endParaRPr lang="en-PT" sz="32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D54190-A11C-BBA0-9EDD-2E082B868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6354" y="3346633"/>
            <a:ext cx="2405626" cy="355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C51DD3-BCFD-53E4-B41E-D904C9472D96}"/>
              </a:ext>
            </a:extLst>
          </p:cNvPr>
          <p:cNvSpPr txBox="1"/>
          <p:nvPr/>
        </p:nvSpPr>
        <p:spPr>
          <a:xfrm>
            <a:off x="393700" y="2075903"/>
            <a:ext cx="4764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Table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BBC3DC-FA21-5FDD-10B2-5F571635EC14}"/>
              </a:ext>
            </a:extLst>
          </p:cNvPr>
          <p:cNvSpPr txBox="1"/>
          <p:nvPr/>
        </p:nvSpPr>
        <p:spPr>
          <a:xfrm>
            <a:off x="742950" y="2027048"/>
            <a:ext cx="4764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Table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EAF7A-086C-15E9-EF69-82380C9C7EB2}"/>
              </a:ext>
            </a:extLst>
          </p:cNvPr>
          <p:cNvSpPr txBox="1"/>
          <p:nvPr/>
        </p:nvSpPr>
        <p:spPr>
          <a:xfrm>
            <a:off x="4034853" y="4920946"/>
            <a:ext cx="41222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T" sz="32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LEFT JOIN = JOIN</a:t>
            </a:r>
            <a:endParaRPr lang="en-PT" sz="3200" dirty="0"/>
          </a:p>
        </p:txBody>
      </p:sp>
      <p:pic>
        <p:nvPicPr>
          <p:cNvPr id="14" name="Picture 13" descr="A diagram of a left and right table&#10;&#10;Description automatically generated">
            <a:extLst>
              <a:ext uri="{FF2B5EF4-FFF2-40B4-BE49-F238E27FC236}">
                <a16:creationId xmlns:a16="http://schemas.microsoft.com/office/drawing/2014/main" id="{D1D5A25B-84F8-781C-7D24-A02F998C0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492" y="2110628"/>
            <a:ext cx="4317016" cy="295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72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2A586-BD2F-BC54-189E-CD87E55051E7}"/>
              </a:ext>
            </a:extLst>
          </p:cNvPr>
          <p:cNvSpPr txBox="1"/>
          <p:nvPr/>
        </p:nvSpPr>
        <p:spPr>
          <a:xfrm>
            <a:off x="6507479" y="2289386"/>
            <a:ext cx="50341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cliente_id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entregas_id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 JOIN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entregas.cliente_id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T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- Ordem de execução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F1B05-415C-06A5-F471-8E163F052F79}"/>
              </a:ext>
            </a:extLst>
          </p:cNvPr>
          <p:cNvGrpSpPr/>
          <p:nvPr/>
        </p:nvGrpSpPr>
        <p:grpSpPr>
          <a:xfrm>
            <a:off x="1319842" y="1673525"/>
            <a:ext cx="3873260" cy="4059294"/>
            <a:chOff x="1319842" y="1673525"/>
            <a:chExt cx="3873260" cy="4059294"/>
          </a:xfrm>
        </p:grpSpPr>
        <p:pic>
          <p:nvPicPr>
            <p:cNvPr id="32" name="Picture 3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E07C0080-94BA-8D66-6789-CAAB68C01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7564" y="1739053"/>
              <a:ext cx="3430638" cy="3993766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F0B80C2-11CD-4DA5-664F-124D12CD9DA0}"/>
                </a:ext>
              </a:extLst>
            </p:cNvPr>
            <p:cNvSpPr/>
            <p:nvPr/>
          </p:nvSpPr>
          <p:spPr>
            <a:xfrm>
              <a:off x="1319842" y="1673525"/>
              <a:ext cx="3873260" cy="267418"/>
            </a:xfrm>
            <a:prstGeom prst="rect">
              <a:avLst/>
            </a:prstGeom>
            <a:solidFill>
              <a:srgbClr val="F67E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1CB1051F-338D-0522-9317-DB9D7CC3B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292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10C55C-A4A0-FD5C-1E64-4ED72EF2F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190550"/>
              </p:ext>
            </p:extLst>
          </p:nvPr>
        </p:nvGraphicFramePr>
        <p:xfrm>
          <a:off x="823606" y="1959428"/>
          <a:ext cx="2159001" cy="1422400"/>
        </p:xfrm>
        <a:graphic>
          <a:graphicData uri="http://schemas.openxmlformats.org/drawingml/2006/table">
            <a:tbl>
              <a:tblPr/>
              <a:tblGrid>
                <a:gridCol w="408974">
                  <a:extLst>
                    <a:ext uri="{9D8B030D-6E8A-4147-A177-3AD203B41FA5}">
                      <a16:colId xmlns:a16="http://schemas.microsoft.com/office/drawing/2014/main" val="2372699673"/>
                    </a:ext>
                  </a:extLst>
                </a:gridCol>
                <a:gridCol w="1103278">
                  <a:extLst>
                    <a:ext uri="{9D8B030D-6E8A-4147-A177-3AD203B41FA5}">
                      <a16:colId xmlns:a16="http://schemas.microsoft.com/office/drawing/2014/main" val="4294852935"/>
                    </a:ext>
                  </a:extLst>
                </a:gridCol>
                <a:gridCol w="646749">
                  <a:extLst>
                    <a:ext uri="{9D8B030D-6E8A-4147-A177-3AD203B41FA5}">
                      <a16:colId xmlns:a16="http://schemas.microsoft.com/office/drawing/2014/main" val="297416313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nome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nif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70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Paulo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9184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Rui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50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8703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Áureo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0355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Leandro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236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78528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A17579-17DC-4BA4-8BE9-D293C5FBC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74867"/>
              </p:ext>
            </p:extLst>
          </p:nvPr>
        </p:nvGraphicFramePr>
        <p:xfrm>
          <a:off x="4317532" y="1977587"/>
          <a:ext cx="4686300" cy="1625600"/>
        </p:xfrm>
        <a:graphic>
          <a:graphicData uri="http://schemas.openxmlformats.org/drawingml/2006/table">
            <a:tbl>
              <a:tblPr/>
              <a:tblGrid>
                <a:gridCol w="1370671">
                  <a:extLst>
                    <a:ext uri="{9D8B030D-6E8A-4147-A177-3AD203B41FA5}">
                      <a16:colId xmlns:a16="http://schemas.microsoft.com/office/drawing/2014/main" val="972193757"/>
                    </a:ext>
                  </a:extLst>
                </a:gridCol>
                <a:gridCol w="888398">
                  <a:extLst>
                    <a:ext uri="{9D8B030D-6E8A-4147-A177-3AD203B41FA5}">
                      <a16:colId xmlns:a16="http://schemas.microsoft.com/office/drawing/2014/main" val="3594579385"/>
                    </a:ext>
                  </a:extLst>
                </a:gridCol>
                <a:gridCol w="828114">
                  <a:extLst>
                    <a:ext uri="{9D8B030D-6E8A-4147-A177-3AD203B41FA5}">
                      <a16:colId xmlns:a16="http://schemas.microsoft.com/office/drawing/2014/main" val="271569235"/>
                    </a:ext>
                  </a:extLst>
                </a:gridCol>
                <a:gridCol w="1599117">
                  <a:extLst>
                    <a:ext uri="{9D8B030D-6E8A-4147-A177-3AD203B41FA5}">
                      <a16:colId xmlns:a16="http://schemas.microsoft.com/office/drawing/2014/main" val="374525571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cliente_id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preco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data_entrega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610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13/12/2023 13:48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2774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15.00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372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6606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7248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13/12/2023 13:48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1550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162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33.00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43044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E1A78B4-2BD2-3B0D-CDD5-5F2658A562A8}"/>
              </a:ext>
            </a:extLst>
          </p:cNvPr>
          <p:cNvSpPr txBox="1"/>
          <p:nvPr/>
        </p:nvSpPr>
        <p:spPr>
          <a:xfrm>
            <a:off x="842078" y="1651651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8595F6-46D0-273B-4A99-DF03889B3BEF}"/>
              </a:ext>
            </a:extLst>
          </p:cNvPr>
          <p:cNvSpPr txBox="1"/>
          <p:nvPr/>
        </p:nvSpPr>
        <p:spPr>
          <a:xfrm>
            <a:off x="4813823" y="16509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28F1FF-6A65-EE8B-5E10-5E3ABD84EDE6}"/>
              </a:ext>
            </a:extLst>
          </p:cNvPr>
          <p:cNvSpPr txBox="1"/>
          <p:nvPr/>
        </p:nvSpPr>
        <p:spPr>
          <a:xfrm>
            <a:off x="5957412" y="16509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41845D-21FD-0676-89C7-11E8FB87A4F6}"/>
              </a:ext>
            </a:extLst>
          </p:cNvPr>
          <p:cNvSpPr txBox="1"/>
          <p:nvPr/>
        </p:nvSpPr>
        <p:spPr>
          <a:xfrm>
            <a:off x="3349859" y="2565534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r>
              <a:rPr lang="en-PT" sz="24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entregas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86525F-9770-7407-8F5E-1972867EC699}"/>
              </a:ext>
            </a:extLst>
          </p:cNvPr>
          <p:cNvSpPr txBox="1"/>
          <p:nvPr/>
        </p:nvSpPr>
        <p:spPr>
          <a:xfrm>
            <a:off x="-146727" y="2407816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r>
              <a:rPr lang="en-PT" sz="24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C35F07-0E21-7108-E460-8049DB3C42AF}"/>
              </a:ext>
            </a:extLst>
          </p:cNvPr>
          <p:cNvSpPr txBox="1"/>
          <p:nvPr/>
        </p:nvSpPr>
        <p:spPr>
          <a:xfrm>
            <a:off x="1256368" y="1272626"/>
            <a:ext cx="4839632" cy="369332"/>
          </a:xfrm>
          <a:prstGeom prst="rect">
            <a:avLst/>
          </a:prstGeom>
          <a:noFill/>
          <a:ln w="19050">
            <a:solidFill>
              <a:srgbClr val="02238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PT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 cliente requisita várias entregas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70991F-6275-7940-B0C6-E4943322F8E3}"/>
              </a:ext>
            </a:extLst>
          </p:cNvPr>
          <p:cNvSpPr txBox="1"/>
          <p:nvPr/>
        </p:nvSpPr>
        <p:spPr>
          <a:xfrm>
            <a:off x="563441" y="4436256"/>
            <a:ext cx="983474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20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 – Primary Key</a:t>
            </a:r>
          </a:p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É uma coluna ou por vezes várias, que identifica exclusivamente uma linha numa tabela</a:t>
            </a:r>
          </a:p>
          <a:p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28" name="Picture 4" descr="Key ">
            <a:extLst>
              <a:ext uri="{FF2B5EF4-FFF2-40B4-BE49-F238E27FC236}">
                <a16:creationId xmlns:a16="http://schemas.microsoft.com/office/drawing/2014/main" id="{85861C11-4A78-5D0C-A512-92E5BBFAC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38" y="4404637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Key ">
            <a:extLst>
              <a:ext uri="{FF2B5EF4-FFF2-40B4-BE49-F238E27FC236}">
                <a16:creationId xmlns:a16="http://schemas.microsoft.com/office/drawing/2014/main" id="{9E940B99-5F93-5105-497F-829B36778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812" y="1684243"/>
            <a:ext cx="251059" cy="25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Key ">
            <a:extLst>
              <a:ext uri="{FF2B5EF4-FFF2-40B4-BE49-F238E27FC236}">
                <a16:creationId xmlns:a16="http://schemas.microsoft.com/office/drawing/2014/main" id="{E2E6B7BB-01C6-9EBE-6A1D-C7BD09AC5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04" y="1661155"/>
            <a:ext cx="251059" cy="25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Key ">
            <a:extLst>
              <a:ext uri="{FF2B5EF4-FFF2-40B4-BE49-F238E27FC236}">
                <a16:creationId xmlns:a16="http://schemas.microsoft.com/office/drawing/2014/main" id="{1124964B-51AE-44E8-03F0-F6862816F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908" y="1661155"/>
            <a:ext cx="287239" cy="28723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pic>
      <p:pic>
        <p:nvPicPr>
          <p:cNvPr id="41" name="Picture 4" descr="Key ">
            <a:extLst>
              <a:ext uri="{FF2B5EF4-FFF2-40B4-BE49-F238E27FC236}">
                <a16:creationId xmlns:a16="http://schemas.microsoft.com/office/drawing/2014/main" id="{6167F88E-F73D-0664-674A-C209A78C8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21" y="5535418"/>
            <a:ext cx="399600" cy="39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4343505-903E-DE2F-F44E-77EB5E3833B0}"/>
              </a:ext>
            </a:extLst>
          </p:cNvPr>
          <p:cNvSpPr txBox="1"/>
          <p:nvPr/>
        </p:nvSpPr>
        <p:spPr>
          <a:xfrm>
            <a:off x="563441" y="5597814"/>
            <a:ext cx="916148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20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FK – Foreign Key</a:t>
            </a:r>
          </a:p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Estabelece uma relação com uma PK de outra tabela através de valores partilhados</a:t>
            </a:r>
          </a:p>
          <a:p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C2D17DF-11BD-A431-9BB9-172058FB4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178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10C55C-A4A0-FD5C-1E64-4ED72EF2F158}"/>
              </a:ext>
            </a:extLst>
          </p:cNvPr>
          <p:cNvGraphicFramePr>
            <a:graphicFrameLocks noGrp="1"/>
          </p:cNvGraphicFramePr>
          <p:nvPr/>
        </p:nvGraphicFramePr>
        <p:xfrm>
          <a:off x="823606" y="1959428"/>
          <a:ext cx="2159001" cy="1422400"/>
        </p:xfrm>
        <a:graphic>
          <a:graphicData uri="http://schemas.openxmlformats.org/drawingml/2006/table">
            <a:tbl>
              <a:tblPr/>
              <a:tblGrid>
                <a:gridCol w="408974">
                  <a:extLst>
                    <a:ext uri="{9D8B030D-6E8A-4147-A177-3AD203B41FA5}">
                      <a16:colId xmlns:a16="http://schemas.microsoft.com/office/drawing/2014/main" val="2372699673"/>
                    </a:ext>
                  </a:extLst>
                </a:gridCol>
                <a:gridCol w="1103278">
                  <a:extLst>
                    <a:ext uri="{9D8B030D-6E8A-4147-A177-3AD203B41FA5}">
                      <a16:colId xmlns:a16="http://schemas.microsoft.com/office/drawing/2014/main" val="4294852935"/>
                    </a:ext>
                  </a:extLst>
                </a:gridCol>
                <a:gridCol w="646749">
                  <a:extLst>
                    <a:ext uri="{9D8B030D-6E8A-4147-A177-3AD203B41FA5}">
                      <a16:colId xmlns:a16="http://schemas.microsoft.com/office/drawing/2014/main" val="297416313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nome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nif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70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Paulo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9184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Rui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50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8703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Áureo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444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0355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Leandro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236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7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78528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A17579-17DC-4BA4-8BE9-D293C5FBC507}"/>
              </a:ext>
            </a:extLst>
          </p:cNvPr>
          <p:cNvGraphicFramePr>
            <a:graphicFrameLocks noGrp="1"/>
          </p:cNvGraphicFramePr>
          <p:nvPr/>
        </p:nvGraphicFramePr>
        <p:xfrm>
          <a:off x="4317532" y="1977587"/>
          <a:ext cx="4686300" cy="1625600"/>
        </p:xfrm>
        <a:graphic>
          <a:graphicData uri="http://schemas.openxmlformats.org/drawingml/2006/table">
            <a:tbl>
              <a:tblPr/>
              <a:tblGrid>
                <a:gridCol w="1370671">
                  <a:extLst>
                    <a:ext uri="{9D8B030D-6E8A-4147-A177-3AD203B41FA5}">
                      <a16:colId xmlns:a16="http://schemas.microsoft.com/office/drawing/2014/main" val="972193757"/>
                    </a:ext>
                  </a:extLst>
                </a:gridCol>
                <a:gridCol w="888398">
                  <a:extLst>
                    <a:ext uri="{9D8B030D-6E8A-4147-A177-3AD203B41FA5}">
                      <a16:colId xmlns:a16="http://schemas.microsoft.com/office/drawing/2014/main" val="3594579385"/>
                    </a:ext>
                  </a:extLst>
                </a:gridCol>
                <a:gridCol w="828114">
                  <a:extLst>
                    <a:ext uri="{9D8B030D-6E8A-4147-A177-3AD203B41FA5}">
                      <a16:colId xmlns:a16="http://schemas.microsoft.com/office/drawing/2014/main" val="271569235"/>
                    </a:ext>
                  </a:extLst>
                </a:gridCol>
                <a:gridCol w="1599117">
                  <a:extLst>
                    <a:ext uri="{9D8B030D-6E8A-4147-A177-3AD203B41FA5}">
                      <a16:colId xmlns:a16="http://schemas.microsoft.com/office/drawing/2014/main" val="374525571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cliente_id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preco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 err="1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data_entrega</a:t>
                      </a:r>
                      <a:endParaRPr lang="en-GB" sz="1200" b="0" i="0" u="none" strike="noStrike" dirty="0">
                        <a:solidFill>
                          <a:srgbClr val="02238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610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13/12/2023 13:48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2774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15.00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372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6606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7248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13/12/2023 13:48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1550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500.00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162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33.00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22384"/>
                          </a:solidFill>
                          <a:effectLst/>
                          <a:latin typeface="Consolas" panose="020B0609020204030204" pitchFamily="49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43044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E1A78B4-2BD2-3B0D-CDD5-5F2658A562A8}"/>
              </a:ext>
            </a:extLst>
          </p:cNvPr>
          <p:cNvSpPr txBox="1"/>
          <p:nvPr/>
        </p:nvSpPr>
        <p:spPr>
          <a:xfrm>
            <a:off x="842078" y="1651651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8595F6-46D0-273B-4A99-DF03889B3BEF}"/>
              </a:ext>
            </a:extLst>
          </p:cNvPr>
          <p:cNvSpPr txBox="1"/>
          <p:nvPr/>
        </p:nvSpPr>
        <p:spPr>
          <a:xfrm>
            <a:off x="4813823" y="16509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28F1FF-6A65-EE8B-5E10-5E3ABD84EDE6}"/>
              </a:ext>
            </a:extLst>
          </p:cNvPr>
          <p:cNvSpPr txBox="1"/>
          <p:nvPr/>
        </p:nvSpPr>
        <p:spPr>
          <a:xfrm>
            <a:off x="5957412" y="1650992"/>
            <a:ext cx="409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6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FK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41845D-21FD-0676-89C7-11E8FB87A4F6}"/>
              </a:ext>
            </a:extLst>
          </p:cNvPr>
          <p:cNvSpPr txBox="1"/>
          <p:nvPr/>
        </p:nvSpPr>
        <p:spPr>
          <a:xfrm>
            <a:off x="3349859" y="2565534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r>
              <a:rPr lang="en-PT" sz="24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entregas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86525F-9770-7407-8F5E-1972867EC699}"/>
              </a:ext>
            </a:extLst>
          </p:cNvPr>
          <p:cNvSpPr txBox="1"/>
          <p:nvPr/>
        </p:nvSpPr>
        <p:spPr>
          <a:xfrm>
            <a:off x="-146727" y="2407816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>
                <a:rot lat="0" lon="0" rev="5400000"/>
              </a:camera>
              <a:lightRig rig="threePt" dir="t"/>
            </a:scene3d>
          </a:bodyPr>
          <a:lstStyle/>
          <a:p>
            <a:r>
              <a:rPr lang="en-PT" sz="24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70991F-6275-7940-B0C6-E4943322F8E3}"/>
              </a:ext>
            </a:extLst>
          </p:cNvPr>
          <p:cNvSpPr txBox="1"/>
          <p:nvPr/>
        </p:nvSpPr>
        <p:spPr>
          <a:xfrm>
            <a:off x="563441" y="4436256"/>
            <a:ext cx="1018900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20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Exemplo real</a:t>
            </a:r>
          </a:p>
          <a:p>
            <a:r>
              <a:rPr lang="en-PT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Duas tabelas, clientes e entregas, retiradas de um CRM como por exemplo o SAP.</a:t>
            </a:r>
          </a:p>
          <a:p>
            <a:endParaRPr lang="en-PT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T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 Departmento de Vendas necessita de saber quantas entregas tem cada clientes, </a:t>
            </a:r>
          </a:p>
          <a:p>
            <a:r>
              <a:rPr lang="en-PT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mesmo aqueles que ainda não solicitaram qualquer entrega. </a:t>
            </a:r>
            <a:endParaRPr lang="en-PT" sz="14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7" name="Picture 4" descr="Key ">
            <a:extLst>
              <a:ext uri="{FF2B5EF4-FFF2-40B4-BE49-F238E27FC236}">
                <a16:creationId xmlns:a16="http://schemas.microsoft.com/office/drawing/2014/main" id="{9E940B99-5F93-5105-497F-829B36778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812" y="1684243"/>
            <a:ext cx="251059" cy="25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Key ">
            <a:extLst>
              <a:ext uri="{FF2B5EF4-FFF2-40B4-BE49-F238E27FC236}">
                <a16:creationId xmlns:a16="http://schemas.microsoft.com/office/drawing/2014/main" id="{E2E6B7BB-01C6-9EBE-6A1D-C7BD09AC5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04" y="1661155"/>
            <a:ext cx="251059" cy="25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Key ">
            <a:extLst>
              <a:ext uri="{FF2B5EF4-FFF2-40B4-BE49-F238E27FC236}">
                <a16:creationId xmlns:a16="http://schemas.microsoft.com/office/drawing/2014/main" id="{1124964B-51AE-44E8-03F0-F6862816F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908" y="1661155"/>
            <a:ext cx="287239" cy="28723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987F7F-45E5-E09B-91E1-8685BA65C445}"/>
              </a:ext>
            </a:extLst>
          </p:cNvPr>
          <p:cNvSpPr/>
          <p:nvPr/>
        </p:nvSpPr>
        <p:spPr>
          <a:xfrm>
            <a:off x="775481" y="1543025"/>
            <a:ext cx="504680" cy="2060162"/>
          </a:xfrm>
          <a:prstGeom prst="rect">
            <a:avLst/>
          </a:prstGeom>
          <a:noFill/>
          <a:ln w="19050">
            <a:solidFill>
              <a:srgbClr val="FFE43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B728A-DDDB-2A3B-B95F-187349C46491}"/>
              </a:ext>
            </a:extLst>
          </p:cNvPr>
          <p:cNvSpPr/>
          <p:nvPr/>
        </p:nvSpPr>
        <p:spPr>
          <a:xfrm>
            <a:off x="5614288" y="1543024"/>
            <a:ext cx="1027143" cy="2220454"/>
          </a:xfrm>
          <a:prstGeom prst="rect">
            <a:avLst/>
          </a:prstGeom>
          <a:noFill/>
          <a:ln w="19050">
            <a:solidFill>
              <a:srgbClr val="FFE43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C5C96F7-4C68-53E1-AAC3-BC80A8DB1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AP SE – Wikipédia, a enciclopédia livre">
            <a:extLst>
              <a:ext uri="{FF2B5EF4-FFF2-40B4-BE49-F238E27FC236}">
                <a16:creationId xmlns:a16="http://schemas.microsoft.com/office/drawing/2014/main" id="{ED3633D5-D168-6B2D-7853-6B3E96643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13766">
            <a:off x="9884008" y="3926669"/>
            <a:ext cx="1515358" cy="74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04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C8BAAF6-5829-C756-1C05-26C20666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1" y="1331874"/>
            <a:ext cx="5087985" cy="1372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9FED72-2491-5304-E141-ABAFB1D8E138}"/>
              </a:ext>
            </a:extLst>
          </p:cNvPr>
          <p:cNvSpPr txBox="1"/>
          <p:nvPr/>
        </p:nvSpPr>
        <p:spPr>
          <a:xfrm>
            <a:off x="8047521" y="2347138"/>
            <a:ext cx="50341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cliente_id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entregas_id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 JOIN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entregas.cliente_id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T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5D6903-E72F-0DBE-10BA-CB90EFE78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153388"/>
              </p:ext>
            </p:extLst>
          </p:nvPr>
        </p:nvGraphicFramePr>
        <p:xfrm>
          <a:off x="188946" y="3213467"/>
          <a:ext cx="5271308" cy="9056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8">
                  <a:extLst>
                    <a:ext uri="{9D8B030D-6E8A-4147-A177-3AD203B41FA5}">
                      <a16:colId xmlns:a16="http://schemas.microsoft.com/office/drawing/2014/main" val="2135967739"/>
                    </a:ext>
                  </a:extLst>
                </a:gridCol>
                <a:gridCol w="1038194">
                  <a:extLst>
                    <a:ext uri="{9D8B030D-6E8A-4147-A177-3AD203B41FA5}">
                      <a16:colId xmlns:a16="http://schemas.microsoft.com/office/drawing/2014/main" val="2527842469"/>
                    </a:ext>
                  </a:extLst>
                </a:gridCol>
                <a:gridCol w="2620206">
                  <a:extLst>
                    <a:ext uri="{9D8B030D-6E8A-4147-A177-3AD203B41FA5}">
                      <a16:colId xmlns:a16="http://schemas.microsoft.com/office/drawing/2014/main" val="3395761124"/>
                    </a:ext>
                  </a:extLst>
                </a:gridCol>
              </a:tblGrid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client_id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nome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entregas_id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424047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Paulo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995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CF96E33-B6DE-3079-930A-38EA87948206}"/>
              </a:ext>
            </a:extLst>
          </p:cNvPr>
          <p:cNvSpPr txBox="1"/>
          <p:nvPr/>
        </p:nvSpPr>
        <p:spPr>
          <a:xfrm>
            <a:off x="200521" y="4787937"/>
            <a:ext cx="74606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É criada uma nova tabela com os atributos das duas tabelas do LEFT JOIN</a:t>
            </a:r>
          </a:p>
          <a:p>
            <a:pPr marL="228600" indent="-228600">
              <a:buFont typeface="+mj-lt"/>
              <a:buAutoNum type="arabicPeriod"/>
            </a:pPr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É percorrida a coluna id da tabela clientes e identificação da sua correspondência na tabela entregas. Caso não seja encontrado nenhuma correspondência os atributos da tabela entregas são colocados a null</a:t>
            </a:r>
          </a:p>
          <a:p>
            <a:pPr algn="ctr"/>
            <a:r>
              <a:rPr lang="en-PT" sz="2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PT" sz="2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 = entregas.client_id</a:t>
            </a:r>
          </a:p>
          <a:p>
            <a:pPr algn="ctr"/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BC915E-0AED-196F-A3F5-A6BC0F4A85FF}"/>
              </a:ext>
            </a:extLst>
          </p:cNvPr>
          <p:cNvSpPr/>
          <p:nvPr/>
        </p:nvSpPr>
        <p:spPr>
          <a:xfrm>
            <a:off x="200521" y="1580453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D42ECD-6FDC-B32A-7E47-7A21775F91E2}"/>
              </a:ext>
            </a:extLst>
          </p:cNvPr>
          <p:cNvSpPr/>
          <p:nvPr/>
        </p:nvSpPr>
        <p:spPr>
          <a:xfrm>
            <a:off x="3325360" y="1576735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8690B2-48EA-BB8C-10B7-DBB1E3403427}"/>
              </a:ext>
            </a:extLst>
          </p:cNvPr>
          <p:cNvSpPr/>
          <p:nvPr/>
        </p:nvSpPr>
        <p:spPr>
          <a:xfrm>
            <a:off x="794479" y="3823669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4D58CD-AAC8-CC96-60E4-C87B257B9979}"/>
              </a:ext>
            </a:extLst>
          </p:cNvPr>
          <p:cNvCxnSpPr>
            <a:cxnSpLocks/>
            <a:stCxn id="7" idx="0"/>
            <a:endCxn id="4" idx="4"/>
          </p:cNvCxnSpPr>
          <p:nvPr/>
        </p:nvCxnSpPr>
        <p:spPr>
          <a:xfrm flipH="1" flipV="1">
            <a:off x="395393" y="1961479"/>
            <a:ext cx="593958" cy="1862190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3726F4-41D9-F443-F0A8-57B54BFF624D}"/>
              </a:ext>
            </a:extLst>
          </p:cNvPr>
          <p:cNvCxnSpPr>
            <a:cxnSpLocks/>
            <a:stCxn id="7" idx="6"/>
            <a:endCxn id="6" idx="3"/>
          </p:cNvCxnSpPr>
          <p:nvPr/>
        </p:nvCxnSpPr>
        <p:spPr>
          <a:xfrm flipV="1">
            <a:off x="1184223" y="1901961"/>
            <a:ext cx="2198214" cy="2112221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F22481-11DF-1432-40CF-DE0912906A63}"/>
              </a:ext>
            </a:extLst>
          </p:cNvPr>
          <p:cNvGrpSpPr/>
          <p:nvPr/>
        </p:nvGrpSpPr>
        <p:grpSpPr>
          <a:xfrm>
            <a:off x="2400918" y="5992484"/>
            <a:ext cx="791983" cy="745836"/>
            <a:chOff x="2131098" y="5849836"/>
            <a:chExt cx="791983" cy="74583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8C198D0-D9AD-BDD8-7D34-B8C0D88E6A20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06529D-FDBB-EDB7-9AB4-F722CD8D55BF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51D47C-FC31-DA4F-FEB4-FE4CE0AE91BF}"/>
              </a:ext>
            </a:extLst>
          </p:cNvPr>
          <p:cNvGrpSpPr/>
          <p:nvPr/>
        </p:nvGrpSpPr>
        <p:grpSpPr>
          <a:xfrm>
            <a:off x="3917431" y="5994984"/>
            <a:ext cx="791983" cy="745836"/>
            <a:chOff x="2131098" y="5849836"/>
            <a:chExt cx="791983" cy="74583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D993B5E-DA6E-0BC6-4EAF-E17F53417334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9717133-0882-4F59-EE41-267F555DF618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pic>
        <p:nvPicPr>
          <p:cNvPr id="31" name="Picture 2">
            <a:extLst>
              <a:ext uri="{FF2B5EF4-FFF2-40B4-BE49-F238E27FC236}">
                <a16:creationId xmlns:a16="http://schemas.microsoft.com/office/drawing/2014/main" id="{6B28DE9D-0B5E-3A27-03B5-57E458786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937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C8BAAF6-5829-C756-1C05-26C20666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1" y="1331874"/>
            <a:ext cx="5087985" cy="1372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9FED72-2491-5304-E141-ABAFB1D8E138}"/>
              </a:ext>
            </a:extLst>
          </p:cNvPr>
          <p:cNvSpPr txBox="1"/>
          <p:nvPr/>
        </p:nvSpPr>
        <p:spPr>
          <a:xfrm>
            <a:off x="8047521" y="2347138"/>
            <a:ext cx="50341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cliente_id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entregas_id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 JOIN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entregas.cliente_id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T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5D6903-E72F-0DBE-10BA-CB90EFE78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64417"/>
              </p:ext>
            </p:extLst>
          </p:nvPr>
        </p:nvGraphicFramePr>
        <p:xfrm>
          <a:off x="200521" y="3191802"/>
          <a:ext cx="5271308" cy="13584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8">
                  <a:extLst>
                    <a:ext uri="{9D8B030D-6E8A-4147-A177-3AD203B41FA5}">
                      <a16:colId xmlns:a16="http://schemas.microsoft.com/office/drawing/2014/main" val="2135967739"/>
                    </a:ext>
                  </a:extLst>
                </a:gridCol>
                <a:gridCol w="1038194">
                  <a:extLst>
                    <a:ext uri="{9D8B030D-6E8A-4147-A177-3AD203B41FA5}">
                      <a16:colId xmlns:a16="http://schemas.microsoft.com/office/drawing/2014/main" val="2527842469"/>
                    </a:ext>
                  </a:extLst>
                </a:gridCol>
                <a:gridCol w="2620206">
                  <a:extLst>
                    <a:ext uri="{9D8B030D-6E8A-4147-A177-3AD203B41FA5}">
                      <a16:colId xmlns:a16="http://schemas.microsoft.com/office/drawing/2014/main" val="3395761124"/>
                    </a:ext>
                  </a:extLst>
                </a:gridCol>
              </a:tblGrid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client_id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nome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entregas_id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424047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Paulo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99593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Rui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785775"/>
                  </a:ext>
                </a:extLst>
              </a:tr>
            </a:tbl>
          </a:graphicData>
        </a:graphic>
      </p:graphicFrame>
      <p:sp>
        <p:nvSpPr>
          <p:cNvPr id="32" name="Oval 31">
            <a:extLst>
              <a:ext uri="{FF2B5EF4-FFF2-40B4-BE49-F238E27FC236}">
                <a16:creationId xmlns:a16="http://schemas.microsoft.com/office/drawing/2014/main" id="{D5422E2D-962A-81DA-09D7-3B97533B0C28}"/>
              </a:ext>
            </a:extLst>
          </p:cNvPr>
          <p:cNvSpPr/>
          <p:nvPr/>
        </p:nvSpPr>
        <p:spPr>
          <a:xfrm>
            <a:off x="794479" y="4273373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0172DB-EE44-7DFC-8C5F-649BF2831BC2}"/>
              </a:ext>
            </a:extLst>
          </p:cNvPr>
          <p:cNvCxnSpPr>
            <a:cxnSpLocks/>
          </p:cNvCxnSpPr>
          <p:nvPr/>
        </p:nvCxnSpPr>
        <p:spPr>
          <a:xfrm flipH="1" flipV="1">
            <a:off x="414670" y="1935126"/>
            <a:ext cx="589671" cy="2427011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ABA4B5-693C-C35B-B0E7-D3804F53BA33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1184223" y="2169042"/>
            <a:ext cx="2313889" cy="2294844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002AFB1-AB94-74DE-4C26-541C01A6D244}"/>
              </a:ext>
            </a:extLst>
          </p:cNvPr>
          <p:cNvSpPr txBox="1"/>
          <p:nvPr/>
        </p:nvSpPr>
        <p:spPr>
          <a:xfrm>
            <a:off x="200521" y="4787937"/>
            <a:ext cx="7372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PT" sz="2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PT" sz="2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 = entregas.client_id</a:t>
            </a:r>
          </a:p>
          <a:p>
            <a:pPr algn="ctr"/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6327361-2ED3-A412-962B-23C77F87CEBC}"/>
              </a:ext>
            </a:extLst>
          </p:cNvPr>
          <p:cNvGrpSpPr/>
          <p:nvPr/>
        </p:nvGrpSpPr>
        <p:grpSpPr>
          <a:xfrm>
            <a:off x="2400918" y="5992484"/>
            <a:ext cx="791983" cy="745836"/>
            <a:chOff x="2131098" y="5849836"/>
            <a:chExt cx="791983" cy="74583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1F82B8D-1496-EFEF-A401-100D6D7F8127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02F4FE1-5A23-F3CB-B808-4462D55A6D06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CEE41EE-A481-DE5E-DBDC-DD8294370B9E}"/>
              </a:ext>
            </a:extLst>
          </p:cNvPr>
          <p:cNvGrpSpPr/>
          <p:nvPr/>
        </p:nvGrpSpPr>
        <p:grpSpPr>
          <a:xfrm>
            <a:off x="3917431" y="5994984"/>
            <a:ext cx="791983" cy="745836"/>
            <a:chOff x="2131098" y="5849836"/>
            <a:chExt cx="791983" cy="745836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5580E38-8B29-5552-130A-38EC1CFD54B1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C77934C-E903-E167-CAA0-90143244152A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pic>
        <p:nvPicPr>
          <p:cNvPr id="47" name="Picture 2">
            <a:extLst>
              <a:ext uri="{FF2B5EF4-FFF2-40B4-BE49-F238E27FC236}">
                <a16:creationId xmlns:a16="http://schemas.microsoft.com/office/drawing/2014/main" id="{85F16136-925E-F961-2329-57853C839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43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0CE4B6-C728-A8A9-DB0E-76B415945A7D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 QUERY - Visualização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604F5-5414-3B91-2C17-420FA42C8E6E}"/>
              </a:ext>
            </a:extLst>
          </p:cNvPr>
          <p:cNvSpPr txBox="1"/>
          <p:nvPr/>
        </p:nvSpPr>
        <p:spPr>
          <a:xfrm>
            <a:off x="200521" y="650472"/>
            <a:ext cx="5609228" cy="307777"/>
          </a:xfrm>
          <a:prstGeom prst="rect">
            <a:avLst/>
          </a:prstGeom>
          <a:solidFill>
            <a:srgbClr val="F67E7D"/>
          </a:solidFill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PT" sz="14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SQL QUERY – INNER JOIN = JOIN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C8BAAF6-5829-C756-1C05-26C20666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1" y="1331874"/>
            <a:ext cx="5087985" cy="1372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9FED72-2491-5304-E141-ABAFB1D8E138}"/>
              </a:ext>
            </a:extLst>
          </p:cNvPr>
          <p:cNvSpPr txBox="1"/>
          <p:nvPr/>
        </p:nvSpPr>
        <p:spPr>
          <a:xfrm>
            <a:off x="8047521" y="2347138"/>
            <a:ext cx="50341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cliente_id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entregas_id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 JOIN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entregas.cliente_id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PT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5D6903-E72F-0DBE-10BA-CB90EFE78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450250"/>
              </p:ext>
            </p:extLst>
          </p:nvPr>
        </p:nvGraphicFramePr>
        <p:xfrm>
          <a:off x="200521" y="3191802"/>
          <a:ext cx="5271308" cy="18112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908">
                  <a:extLst>
                    <a:ext uri="{9D8B030D-6E8A-4147-A177-3AD203B41FA5}">
                      <a16:colId xmlns:a16="http://schemas.microsoft.com/office/drawing/2014/main" val="2135967739"/>
                    </a:ext>
                  </a:extLst>
                </a:gridCol>
                <a:gridCol w="1038194">
                  <a:extLst>
                    <a:ext uri="{9D8B030D-6E8A-4147-A177-3AD203B41FA5}">
                      <a16:colId xmlns:a16="http://schemas.microsoft.com/office/drawing/2014/main" val="2527842469"/>
                    </a:ext>
                  </a:extLst>
                </a:gridCol>
                <a:gridCol w="2620206">
                  <a:extLst>
                    <a:ext uri="{9D8B030D-6E8A-4147-A177-3AD203B41FA5}">
                      <a16:colId xmlns:a16="http://schemas.microsoft.com/office/drawing/2014/main" val="3395761124"/>
                    </a:ext>
                  </a:extLst>
                </a:gridCol>
              </a:tblGrid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client_id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nome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entregas_id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solidFill>
                      <a:srgbClr val="64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424047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Paulo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u="none" strike="noStrike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PT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99593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Rui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785775"/>
                  </a:ext>
                </a:extLst>
              </a:tr>
              <a:tr h="452817"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Bruno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null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071473"/>
                  </a:ext>
                </a:extLst>
              </a:tr>
            </a:tbl>
          </a:graphicData>
        </a:graphic>
      </p:graphicFrame>
      <p:sp>
        <p:nvSpPr>
          <p:cNvPr id="32" name="Oval 31">
            <a:extLst>
              <a:ext uri="{FF2B5EF4-FFF2-40B4-BE49-F238E27FC236}">
                <a16:creationId xmlns:a16="http://schemas.microsoft.com/office/drawing/2014/main" id="{D5422E2D-962A-81DA-09D7-3B97533B0C28}"/>
              </a:ext>
            </a:extLst>
          </p:cNvPr>
          <p:cNvSpPr/>
          <p:nvPr/>
        </p:nvSpPr>
        <p:spPr>
          <a:xfrm>
            <a:off x="794479" y="4698685"/>
            <a:ext cx="389744" cy="381026"/>
          </a:xfrm>
          <a:prstGeom prst="ellipse">
            <a:avLst/>
          </a:prstGeom>
          <a:noFill/>
          <a:ln w="38100">
            <a:solidFill>
              <a:srgbClr val="FFE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0172DB-EE44-7DFC-8C5F-649BF2831BC2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428263" y="2070063"/>
            <a:ext cx="561088" cy="2628622"/>
          </a:xfrm>
          <a:prstGeom prst="straightConnector1">
            <a:avLst/>
          </a:prstGeom>
          <a:ln w="38100">
            <a:solidFill>
              <a:srgbClr val="02238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11C73B-4CED-4D87-D464-C2CB665DA739}"/>
              </a:ext>
            </a:extLst>
          </p:cNvPr>
          <p:cNvCxnSpPr>
            <a:cxnSpLocks/>
          </p:cNvCxnSpPr>
          <p:nvPr/>
        </p:nvCxnSpPr>
        <p:spPr>
          <a:xfrm flipV="1">
            <a:off x="1084521" y="2704699"/>
            <a:ext cx="2318436" cy="20480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755E2D-0E91-EC10-3A4C-B4925472FB34}"/>
              </a:ext>
            </a:extLst>
          </p:cNvPr>
          <p:cNvSpPr txBox="1"/>
          <p:nvPr/>
        </p:nvSpPr>
        <p:spPr>
          <a:xfrm>
            <a:off x="200521" y="4787937"/>
            <a:ext cx="7372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PT" sz="2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-PT" sz="2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clientes.id = entregas.client_id</a:t>
            </a:r>
          </a:p>
          <a:p>
            <a:pPr algn="ctr"/>
            <a:r>
              <a:rPr lang="en-PT" sz="1200" dirty="0">
                <a:solidFill>
                  <a:srgbClr val="64EFFA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PT" sz="1200" dirty="0">
              <a:solidFill>
                <a:srgbClr val="64EFFA"/>
              </a:solidFill>
              <a:highlight>
                <a:srgbClr val="F67E7D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27A928-DCB7-FCD3-9692-D696BC8FDC12}"/>
              </a:ext>
            </a:extLst>
          </p:cNvPr>
          <p:cNvGrpSpPr/>
          <p:nvPr/>
        </p:nvGrpSpPr>
        <p:grpSpPr>
          <a:xfrm>
            <a:off x="2400918" y="5992484"/>
            <a:ext cx="791983" cy="745836"/>
            <a:chOff x="2131098" y="5849836"/>
            <a:chExt cx="791983" cy="74583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13CB554-9116-86BC-3FDA-2CB9D2379FAA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45B33A-20D3-2A2C-1CA9-4FDFC680B186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92AB579-A716-32BA-4EB2-D8E627C0B7CC}"/>
              </a:ext>
            </a:extLst>
          </p:cNvPr>
          <p:cNvGrpSpPr/>
          <p:nvPr/>
        </p:nvGrpSpPr>
        <p:grpSpPr>
          <a:xfrm>
            <a:off x="3917431" y="5994984"/>
            <a:ext cx="791983" cy="745836"/>
            <a:chOff x="2131098" y="5849836"/>
            <a:chExt cx="791983" cy="745836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8682A0B-5062-9820-2738-DE57ED448A42}"/>
                </a:ext>
              </a:extLst>
            </p:cNvPr>
            <p:cNvSpPr/>
            <p:nvPr/>
          </p:nvSpPr>
          <p:spPr>
            <a:xfrm>
              <a:off x="2131098" y="5849836"/>
              <a:ext cx="791983" cy="745836"/>
            </a:xfrm>
            <a:prstGeom prst="ellipse">
              <a:avLst/>
            </a:prstGeom>
            <a:noFill/>
            <a:ln w="38100">
              <a:solidFill>
                <a:srgbClr val="FFE4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41459D-4C2C-15E8-9E6A-03C0D1273F95}"/>
                </a:ext>
              </a:extLst>
            </p:cNvPr>
            <p:cNvSpPr txBox="1"/>
            <p:nvPr/>
          </p:nvSpPr>
          <p:spPr>
            <a:xfrm>
              <a:off x="2333823" y="5915140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32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pic>
        <p:nvPicPr>
          <p:cNvPr id="30" name="Picture 2">
            <a:extLst>
              <a:ext uri="{FF2B5EF4-FFF2-40B4-BE49-F238E27FC236}">
                <a16:creationId xmlns:a16="http://schemas.microsoft.com/office/drawing/2014/main" id="{C6073107-19D0-00DB-3B32-8746A283E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74166" y="5732819"/>
            <a:ext cx="817834" cy="120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orbidden ">
            <a:extLst>
              <a:ext uri="{FF2B5EF4-FFF2-40B4-BE49-F238E27FC236}">
                <a16:creationId xmlns:a16="http://schemas.microsoft.com/office/drawing/2014/main" id="{7EA33D4C-E314-4E6E-E820-0EB6D8EA3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372" y="3429000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t equal ">
            <a:extLst>
              <a:ext uri="{FF2B5EF4-FFF2-40B4-BE49-F238E27FC236}">
                <a16:creationId xmlns:a16="http://schemas.microsoft.com/office/drawing/2014/main" id="{DC691DE1-FB59-776A-9A92-BAC61A85C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486" y="6160056"/>
            <a:ext cx="410691" cy="41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5E2C9E-40E0-837D-D923-FA58DDA5F881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3565043" y="2704699"/>
            <a:ext cx="4134032" cy="2494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434C40-E690-06D7-E46E-E62CBADD1AB4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743446" y="5199507"/>
            <a:ext cx="3955629" cy="13282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DA751B9-84BF-B142-45FB-0916A0D15DBA}"/>
              </a:ext>
            </a:extLst>
          </p:cNvPr>
          <p:cNvSpPr txBox="1"/>
          <p:nvPr/>
        </p:nvSpPr>
        <p:spPr>
          <a:xfrm>
            <a:off x="7699075" y="4784008"/>
            <a:ext cx="3332376" cy="830997"/>
          </a:xfrm>
          <a:prstGeom prst="rect">
            <a:avLst/>
          </a:prstGeom>
          <a:solidFill>
            <a:srgbClr val="022384"/>
          </a:solidFill>
        </p:spPr>
        <p:txBody>
          <a:bodyPr wrap="square" rtlCol="0">
            <a:spAutoFit/>
          </a:bodyPr>
          <a:lstStyle/>
          <a:p>
            <a:r>
              <a:rPr lang="en-PT" sz="2400" b="1" dirty="0">
                <a:solidFill>
                  <a:srgbClr val="64EF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Não existe correspondência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CE8505-4D26-A7F2-6700-5AA0074027FA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4559241" y="4809241"/>
            <a:ext cx="3139834" cy="3902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93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7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233FB-29FB-8D74-A46C-BD60E3BC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03E39D3-B3DB-9EFE-7D93-3641E2973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6354" y="3346633"/>
            <a:ext cx="2405626" cy="355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diagram of a left and right table&#10;&#10;Description automatically generated">
            <a:extLst>
              <a:ext uri="{FF2B5EF4-FFF2-40B4-BE49-F238E27FC236}">
                <a16:creationId xmlns:a16="http://schemas.microsoft.com/office/drawing/2014/main" id="{3C982C6F-9E34-77DE-AB60-C83EAECBF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579" y="701097"/>
            <a:ext cx="2705795" cy="1850717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2F00596-3EC8-C880-E1BF-E352B77C6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6354" y="3346633"/>
            <a:ext cx="2405626" cy="355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C52A02-BBBD-F226-DE71-980002B26810}"/>
              </a:ext>
            </a:extLst>
          </p:cNvPr>
          <p:cNvSpPr txBox="1"/>
          <p:nvPr/>
        </p:nvSpPr>
        <p:spPr>
          <a:xfrm>
            <a:off x="62812" y="65697"/>
            <a:ext cx="5609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3200" b="1" dirty="0">
                <a:solidFill>
                  <a:srgbClr val="022384"/>
                </a:solidFill>
                <a:highlight>
                  <a:srgbClr val="F67E7D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LEFT JOIN (Conclusão)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C8FCB-44A9-E56F-78D5-6A49DF81E4E5}"/>
              </a:ext>
            </a:extLst>
          </p:cNvPr>
          <p:cNvSpPr txBox="1"/>
          <p:nvPr/>
        </p:nvSpPr>
        <p:spPr>
          <a:xfrm>
            <a:off x="882791" y="3031212"/>
            <a:ext cx="80065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 LEFT JOIN serve para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obter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todos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esquerda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mesmo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quando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não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existe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correspondência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direita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simples:  O LEFT JOIN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mostra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tudo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está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esquerda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e, se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houver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relação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 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direita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mostra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esses dados;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caso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contrário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aparecem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valores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NULL.</a:t>
            </a:r>
          </a:p>
          <a:p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 LEFT JOIN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é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usado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quando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pretende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Manter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todos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principal (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esquerda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Identificar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dados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falta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tabela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relacionada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Garantir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resultados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completos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mesmo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correspondência</a:t>
            </a:r>
            <a:endParaRPr lang="en-GB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Analisar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relações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opcionais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não</a:t>
            </a:r>
            <a:r>
              <a:rPr lang="en-GB" sz="1400" b="1" dirty="0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2238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obrigatórias</a:t>
            </a:r>
            <a:endParaRPr lang="en-PT" sz="1400" b="1" dirty="0">
              <a:solidFill>
                <a:srgbClr val="02238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665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698</Words>
  <Application>Microsoft Macintosh PowerPoint</Application>
  <PresentationFormat>Widescreen</PresentationFormat>
  <Paragraphs>234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José Augusto Da Rocha Gonçalves</dc:creator>
  <cp:lastModifiedBy>José Augusto Da Rocha Gonçalves</cp:lastModifiedBy>
  <cp:revision>11</cp:revision>
  <dcterms:created xsi:type="dcterms:W3CDTF">2023-12-09T19:36:02Z</dcterms:created>
  <dcterms:modified xsi:type="dcterms:W3CDTF">2026-04-14T11:04:13Z</dcterms:modified>
</cp:coreProperties>
</file>