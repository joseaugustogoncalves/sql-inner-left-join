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EFFA"/>
    <a:srgbClr val="FFE43F"/>
    <a:srgbClr val="022384"/>
    <a:srgbClr val="F67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577"/>
  </p:normalViewPr>
  <p:slideViewPr>
    <p:cSldViewPr snapToGrid="0">
      <p:cViewPr varScale="1">
        <p:scale>
          <a:sx n="110" d="100"/>
          <a:sy n="110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C0E9-B681-075D-3ED1-BE8B9B347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83492-10F4-1047-E0A5-5E4CEB7D5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57608-06D5-7DDF-F153-ED61224F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C52F5-D037-2EE4-938F-0E8CBCF5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55E7-1422-F106-DCBC-43012737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5769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FEE2-E1EE-4CB2-C22F-88BCEE98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5776-C8C6-4FEA-DB94-5882721D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ADEF2-EA9F-CA84-C19C-AF7ED443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93E6C-A167-5891-C025-24274A4A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F7D9-C1EA-8FC5-0A6C-0FD0FC14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0873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6146-90DF-B740-B412-2209744A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04865-F6C0-E7C1-E788-38F69931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846C8-709E-4117-9238-A7E7C835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0EEF-55DE-D335-37DD-8D63C7BE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8195-6B1D-08A0-EBEB-E3BA4464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0714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A123-B5B4-BE0E-3458-F977BC39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EEFE-F9FA-4ACE-908C-7F5135D4D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4CC71-6E0A-CBE8-5992-2D08B2EAD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1DAE6-AC92-164A-8D9A-DE7648B5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C2D43-1F09-3FAE-B064-17692C15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A3928-0856-72A5-8963-CF3BBC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8697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BC21-3857-A2F9-6FE4-EA857A2A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3FA6B-DDFC-CF42-98F3-4DFDCCD06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C5AF0-344B-E46C-6D8A-52E1CB827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A7A7B-D206-C735-AE16-458BE453A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827BE-A2CA-10F1-4988-EFBD7BF49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478D5-B706-D7DB-63D5-22A76D2B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40C0A-A6C1-688E-1BFB-318F7433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D0267-7E25-201E-7A97-D9A8B133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9115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0F4C-61E1-C36C-0C13-72EC2FC1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EC95E-BA35-DE8D-3338-4F864AD2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49DCB-E5D5-B6DC-7B42-1BBFBA78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7AE93-0189-8DAE-AC7A-EE6AFAA3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57746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4801-74C2-8A30-2F50-6AC08D0C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07C0E-EABA-4AFB-56FF-CAF80C7A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AF3C0-36F9-E361-3766-D4EFA39E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2744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201A-583C-A71B-CCEF-C04FEC0C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D72C-D79D-9E92-0995-6E488BC2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D4588-A7D5-23A8-E87A-78C622CE5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5E5B-A737-A0DE-1C97-EA27F0A5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30016-F479-BDF3-E893-9295D4A1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B495-0A69-A4A2-BB13-B67E2C02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7855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7E55-D442-2354-141B-EDF7F765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A4773E-B738-8849-3087-1A383B576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6AF4-2E3A-7E6B-9B8C-9D7CE4BF4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F48FF-0B51-FD74-45E1-A3D00B8D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0906F-CA71-7692-BBC3-18E4A5DF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E6310-E767-EF6D-F0DA-31CF3B10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3298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2272-E17C-BBE5-FAF9-DFEEE8B3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9FD64-BC78-6A5C-6D0B-9643EA261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1773D-0852-5037-0BAD-A97324EA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1887-3782-351A-7529-AF9E41D2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A992C-46BE-A7C6-ED85-CADEF005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1770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EE5EDB-AF19-0752-8A66-30C0C2018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A3D7B-B48C-4A95-A99F-B6DFCA10A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8D7BC-3549-E32C-588A-EED8DAEE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ECB40-EF8D-D595-C6CC-4E85AB36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AA8C7-8790-843C-A368-ADE8AC45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79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1954F-F8DE-2139-F5EC-70DB02C1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7165E-A876-A236-1A42-CE709EC98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99787-3EE9-6119-311D-1755A4D44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3EF72-0A25-B8F0-C37C-BC7630427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8754-45C6-6D33-2829-31C9A77BC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230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F70D18-FAEC-14D7-8B3B-860787CF438B}"/>
              </a:ext>
            </a:extLst>
          </p:cNvPr>
          <p:cNvGrpSpPr/>
          <p:nvPr/>
        </p:nvGrpSpPr>
        <p:grpSpPr>
          <a:xfrm>
            <a:off x="393700" y="1384379"/>
            <a:ext cx="5609228" cy="3478673"/>
            <a:chOff x="504537" y="1211303"/>
            <a:chExt cx="5609228" cy="3478673"/>
          </a:xfrm>
        </p:grpSpPr>
        <p:pic>
          <p:nvPicPr>
            <p:cNvPr id="8" name="Picture 7" descr="A black background with white lines and red text&#10;&#10;Description automatically generated">
              <a:extLst>
                <a:ext uri="{FF2B5EF4-FFF2-40B4-BE49-F238E27FC236}">
                  <a16:creationId xmlns:a16="http://schemas.microsoft.com/office/drawing/2014/main" id="{DC24B1AA-3545-2A36-5BCD-CB46EC851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9787" y="1969760"/>
              <a:ext cx="2586759" cy="272021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0CE4B6-C728-A8A9-DB0E-76B415945A7D}"/>
                </a:ext>
              </a:extLst>
            </p:cNvPr>
            <p:cNvSpPr txBox="1"/>
            <p:nvPr/>
          </p:nvSpPr>
          <p:spPr>
            <a:xfrm>
              <a:off x="504537" y="1211303"/>
              <a:ext cx="56092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b="1" dirty="0">
                  <a:solidFill>
                    <a:srgbClr val="022384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SQL QUERY – Visualização</a:t>
              </a:r>
              <a:endPara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D54190-A11C-BBA0-9EDD-2E082B86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6354" y="3346633"/>
            <a:ext cx="2405626" cy="35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C51DD3-BCFD-53E4-B41E-D904C9472D96}"/>
              </a:ext>
            </a:extLst>
          </p:cNvPr>
          <p:cNvSpPr txBox="1"/>
          <p:nvPr/>
        </p:nvSpPr>
        <p:spPr>
          <a:xfrm>
            <a:off x="393700" y="2075903"/>
            <a:ext cx="4764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Table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BC3DC-FA21-5FDD-10B2-5F571635EC14}"/>
              </a:ext>
            </a:extLst>
          </p:cNvPr>
          <p:cNvSpPr txBox="1"/>
          <p:nvPr/>
        </p:nvSpPr>
        <p:spPr>
          <a:xfrm>
            <a:off x="742950" y="2027048"/>
            <a:ext cx="4764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Table B</a:t>
            </a:r>
          </a:p>
        </p:txBody>
      </p:sp>
      <p:pic>
        <p:nvPicPr>
          <p:cNvPr id="5" name="Picture 4" descr="A diagram of a table and table&#10;&#10;Description automatically generated">
            <a:extLst>
              <a:ext uri="{FF2B5EF4-FFF2-40B4-BE49-F238E27FC236}">
                <a16:creationId xmlns:a16="http://schemas.microsoft.com/office/drawing/2014/main" id="{E65C10E9-015B-199E-F00C-6AA24C589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855" y="2142836"/>
            <a:ext cx="4418290" cy="2720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9EAF7A-086C-15E9-EF69-82380C9C7EB2}"/>
              </a:ext>
            </a:extLst>
          </p:cNvPr>
          <p:cNvSpPr txBox="1"/>
          <p:nvPr/>
        </p:nvSpPr>
        <p:spPr>
          <a:xfrm>
            <a:off x="4034853" y="4920946"/>
            <a:ext cx="4122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INNER JOIN = JOIN</a:t>
            </a:r>
            <a:endParaRPr lang="en-PT" sz="3200" dirty="0"/>
          </a:p>
        </p:txBody>
      </p:sp>
    </p:spTree>
    <p:extLst>
      <p:ext uri="{BB962C8B-B14F-4D97-AF65-F5344CB8AC3E}">
        <p14:creationId xmlns:p14="http://schemas.microsoft.com/office/powerpoint/2010/main" val="193007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2A586-BD2F-BC54-189E-CD87E55051E7}"/>
              </a:ext>
            </a:extLst>
          </p:cNvPr>
          <p:cNvSpPr txBox="1"/>
          <p:nvPr/>
        </p:nvSpPr>
        <p:spPr>
          <a:xfrm>
            <a:off x="6507479" y="2289386"/>
            <a:ext cx="50341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clientes.id,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clientes.nome,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COUNT(entregas.id) as total_entregas,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SUM(preco) as total_preco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clientes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entregas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clientes.id = entregas.client_id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entregas.data_inicial &gt; 2022-02-02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clientes.id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total_preco &gt; 100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total_preco DESC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- Ordem de execução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F1B05-415C-06A5-F471-8E163F052F79}"/>
              </a:ext>
            </a:extLst>
          </p:cNvPr>
          <p:cNvGrpSpPr/>
          <p:nvPr/>
        </p:nvGrpSpPr>
        <p:grpSpPr>
          <a:xfrm>
            <a:off x="1319842" y="1673525"/>
            <a:ext cx="3873260" cy="4059294"/>
            <a:chOff x="1319842" y="1673525"/>
            <a:chExt cx="3873260" cy="4059294"/>
          </a:xfrm>
        </p:grpSpPr>
        <p:pic>
          <p:nvPicPr>
            <p:cNvPr id="32" name="Picture 3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07C0080-94BA-8D66-6789-CAAB68C01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564" y="1739053"/>
              <a:ext cx="3430638" cy="3993766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F0B80C2-11CD-4DA5-664F-124D12CD9DA0}"/>
                </a:ext>
              </a:extLst>
            </p:cNvPr>
            <p:cNvSpPr/>
            <p:nvPr/>
          </p:nvSpPr>
          <p:spPr>
            <a:xfrm>
              <a:off x="1319842" y="1673525"/>
              <a:ext cx="3873260" cy="267418"/>
            </a:xfrm>
            <a:prstGeom prst="rect">
              <a:avLst/>
            </a:prstGeom>
            <a:solidFill>
              <a:srgbClr val="F67E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1CB1051F-338D-0522-9317-DB9D7CC3B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29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10C55C-A4A0-FD5C-1E64-4ED72EF2F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190550"/>
              </p:ext>
            </p:extLst>
          </p:nvPr>
        </p:nvGraphicFramePr>
        <p:xfrm>
          <a:off x="823606" y="1959428"/>
          <a:ext cx="2159001" cy="1422400"/>
        </p:xfrm>
        <a:graphic>
          <a:graphicData uri="http://schemas.openxmlformats.org/drawingml/2006/table">
            <a:tbl>
              <a:tblPr/>
              <a:tblGrid>
                <a:gridCol w="408974">
                  <a:extLst>
                    <a:ext uri="{9D8B030D-6E8A-4147-A177-3AD203B41FA5}">
                      <a16:colId xmlns:a16="http://schemas.microsoft.com/office/drawing/2014/main" val="2372699673"/>
                    </a:ext>
                  </a:extLst>
                </a:gridCol>
                <a:gridCol w="1103278">
                  <a:extLst>
                    <a:ext uri="{9D8B030D-6E8A-4147-A177-3AD203B41FA5}">
                      <a16:colId xmlns:a16="http://schemas.microsoft.com/office/drawing/2014/main" val="4294852935"/>
                    </a:ext>
                  </a:extLst>
                </a:gridCol>
                <a:gridCol w="646749">
                  <a:extLst>
                    <a:ext uri="{9D8B030D-6E8A-4147-A177-3AD203B41FA5}">
                      <a16:colId xmlns:a16="http://schemas.microsoft.com/office/drawing/2014/main" val="29741631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nome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nif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Paulo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18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50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703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355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Leandro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23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7852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17579-17DC-4BA4-8BE9-D293C5FB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74867"/>
              </p:ext>
            </p:extLst>
          </p:nvPr>
        </p:nvGraphicFramePr>
        <p:xfrm>
          <a:off x="4317532" y="1977587"/>
          <a:ext cx="4686300" cy="1625600"/>
        </p:xfrm>
        <a:graphic>
          <a:graphicData uri="http://schemas.openxmlformats.org/drawingml/2006/table">
            <a:tbl>
              <a:tblPr/>
              <a:tblGrid>
                <a:gridCol w="1370671">
                  <a:extLst>
                    <a:ext uri="{9D8B030D-6E8A-4147-A177-3AD203B41FA5}">
                      <a16:colId xmlns:a16="http://schemas.microsoft.com/office/drawing/2014/main" val="972193757"/>
                    </a:ext>
                  </a:extLst>
                </a:gridCol>
                <a:gridCol w="888398">
                  <a:extLst>
                    <a:ext uri="{9D8B030D-6E8A-4147-A177-3AD203B41FA5}">
                      <a16:colId xmlns:a16="http://schemas.microsoft.com/office/drawing/2014/main" val="3594579385"/>
                    </a:ext>
                  </a:extLst>
                </a:gridCol>
                <a:gridCol w="828114">
                  <a:extLst>
                    <a:ext uri="{9D8B030D-6E8A-4147-A177-3AD203B41FA5}">
                      <a16:colId xmlns:a16="http://schemas.microsoft.com/office/drawing/2014/main" val="271569235"/>
                    </a:ext>
                  </a:extLst>
                </a:gridCol>
                <a:gridCol w="1599117">
                  <a:extLst>
                    <a:ext uri="{9D8B030D-6E8A-4147-A177-3AD203B41FA5}">
                      <a16:colId xmlns:a16="http://schemas.microsoft.com/office/drawing/2014/main" val="37452557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cliente_id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preco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data_entrega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10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774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15.00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372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6606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724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1550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162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4304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E1A78B4-2BD2-3B0D-CDD5-5F2658A562A8}"/>
              </a:ext>
            </a:extLst>
          </p:cNvPr>
          <p:cNvSpPr txBox="1"/>
          <p:nvPr/>
        </p:nvSpPr>
        <p:spPr>
          <a:xfrm>
            <a:off x="842078" y="1651651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595F6-46D0-273B-4A99-DF03889B3BEF}"/>
              </a:ext>
            </a:extLst>
          </p:cNvPr>
          <p:cNvSpPr txBox="1"/>
          <p:nvPr/>
        </p:nvSpPr>
        <p:spPr>
          <a:xfrm>
            <a:off x="4813823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28F1FF-6A65-EE8B-5E10-5E3ABD84EDE6}"/>
              </a:ext>
            </a:extLst>
          </p:cNvPr>
          <p:cNvSpPr txBox="1"/>
          <p:nvPr/>
        </p:nvSpPr>
        <p:spPr>
          <a:xfrm>
            <a:off x="5957412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1845D-21FD-0676-89C7-11E8FB87A4F6}"/>
              </a:ext>
            </a:extLst>
          </p:cNvPr>
          <p:cNvSpPr txBox="1"/>
          <p:nvPr/>
        </p:nvSpPr>
        <p:spPr>
          <a:xfrm>
            <a:off x="3349859" y="2565534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6525F-9770-7407-8F5E-1972867EC699}"/>
              </a:ext>
            </a:extLst>
          </p:cNvPr>
          <p:cNvSpPr txBox="1"/>
          <p:nvPr/>
        </p:nvSpPr>
        <p:spPr>
          <a:xfrm>
            <a:off x="-146727" y="24078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C35F07-0E21-7108-E460-8049DB3C42AF}"/>
              </a:ext>
            </a:extLst>
          </p:cNvPr>
          <p:cNvSpPr txBox="1"/>
          <p:nvPr/>
        </p:nvSpPr>
        <p:spPr>
          <a:xfrm>
            <a:off x="1256368" y="1272626"/>
            <a:ext cx="4839632" cy="369332"/>
          </a:xfrm>
          <a:prstGeom prst="rect">
            <a:avLst/>
          </a:prstGeom>
          <a:noFill/>
          <a:ln w="19050">
            <a:solidFill>
              <a:srgbClr val="0223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T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 cliente requisita várias entregas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0991F-6275-7940-B0C6-E4943322F8E3}"/>
              </a:ext>
            </a:extLst>
          </p:cNvPr>
          <p:cNvSpPr txBox="1"/>
          <p:nvPr/>
        </p:nvSpPr>
        <p:spPr>
          <a:xfrm>
            <a:off x="563441" y="4436256"/>
            <a:ext cx="983474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 – Primary Key</a:t>
            </a:r>
          </a:p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uma coluna ou por vezes várias, que identifica exclusivamente uma linha numa tabela</a:t>
            </a:r>
          </a:p>
          <a:p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28" name="Picture 4" descr="Key ">
            <a:extLst>
              <a:ext uri="{FF2B5EF4-FFF2-40B4-BE49-F238E27FC236}">
                <a16:creationId xmlns:a16="http://schemas.microsoft.com/office/drawing/2014/main" id="{85861C11-4A78-5D0C-A512-92E5BBFAC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38" y="4404637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Key ">
            <a:extLst>
              <a:ext uri="{FF2B5EF4-FFF2-40B4-BE49-F238E27FC236}">
                <a16:creationId xmlns:a16="http://schemas.microsoft.com/office/drawing/2014/main" id="{9E940B99-5F93-5105-497F-829B3677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812" y="1684243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Key ">
            <a:extLst>
              <a:ext uri="{FF2B5EF4-FFF2-40B4-BE49-F238E27FC236}">
                <a16:creationId xmlns:a16="http://schemas.microsoft.com/office/drawing/2014/main" id="{E2E6B7BB-01C6-9EBE-6A1D-C7BD09AC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4" y="1661155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Key ">
            <a:extLst>
              <a:ext uri="{FF2B5EF4-FFF2-40B4-BE49-F238E27FC236}">
                <a16:creationId xmlns:a16="http://schemas.microsoft.com/office/drawing/2014/main" id="{1124964B-51AE-44E8-03F0-F6862816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908" y="1661155"/>
            <a:ext cx="287239" cy="28723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pic>
        <p:nvPicPr>
          <p:cNvPr id="41" name="Picture 4" descr="Key ">
            <a:extLst>
              <a:ext uri="{FF2B5EF4-FFF2-40B4-BE49-F238E27FC236}">
                <a16:creationId xmlns:a16="http://schemas.microsoft.com/office/drawing/2014/main" id="{6167F88E-F73D-0664-674A-C209A78C8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21" y="5535418"/>
            <a:ext cx="399600" cy="39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4343505-903E-DE2F-F44E-77EB5E3833B0}"/>
              </a:ext>
            </a:extLst>
          </p:cNvPr>
          <p:cNvSpPr txBox="1"/>
          <p:nvPr/>
        </p:nvSpPr>
        <p:spPr>
          <a:xfrm>
            <a:off x="563441" y="5597814"/>
            <a:ext cx="916148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 – Foreign Key</a:t>
            </a:r>
          </a:p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Estabelece uma relação com uma PK de outra tabela através de valores partilhados</a:t>
            </a:r>
          </a:p>
          <a:p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C2D17DF-11BD-A431-9BB9-172058FB4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17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10C55C-A4A0-FD5C-1E64-4ED72EF2F158}"/>
              </a:ext>
            </a:extLst>
          </p:cNvPr>
          <p:cNvGraphicFramePr>
            <a:graphicFrameLocks noGrp="1"/>
          </p:cNvGraphicFramePr>
          <p:nvPr/>
        </p:nvGraphicFramePr>
        <p:xfrm>
          <a:off x="823606" y="1959428"/>
          <a:ext cx="2159001" cy="1422400"/>
        </p:xfrm>
        <a:graphic>
          <a:graphicData uri="http://schemas.openxmlformats.org/drawingml/2006/table">
            <a:tbl>
              <a:tblPr/>
              <a:tblGrid>
                <a:gridCol w="408974">
                  <a:extLst>
                    <a:ext uri="{9D8B030D-6E8A-4147-A177-3AD203B41FA5}">
                      <a16:colId xmlns:a16="http://schemas.microsoft.com/office/drawing/2014/main" val="2372699673"/>
                    </a:ext>
                  </a:extLst>
                </a:gridCol>
                <a:gridCol w="1103278">
                  <a:extLst>
                    <a:ext uri="{9D8B030D-6E8A-4147-A177-3AD203B41FA5}">
                      <a16:colId xmlns:a16="http://schemas.microsoft.com/office/drawing/2014/main" val="4294852935"/>
                    </a:ext>
                  </a:extLst>
                </a:gridCol>
                <a:gridCol w="646749">
                  <a:extLst>
                    <a:ext uri="{9D8B030D-6E8A-4147-A177-3AD203B41FA5}">
                      <a16:colId xmlns:a16="http://schemas.microsoft.com/office/drawing/2014/main" val="29741631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nome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nif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Paulo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18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50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703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355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Leandro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23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7852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17579-17DC-4BA4-8BE9-D293C5FBC507}"/>
              </a:ext>
            </a:extLst>
          </p:cNvPr>
          <p:cNvGraphicFramePr>
            <a:graphicFrameLocks noGrp="1"/>
          </p:cNvGraphicFramePr>
          <p:nvPr/>
        </p:nvGraphicFramePr>
        <p:xfrm>
          <a:off x="4317532" y="1977587"/>
          <a:ext cx="4686300" cy="1625600"/>
        </p:xfrm>
        <a:graphic>
          <a:graphicData uri="http://schemas.openxmlformats.org/drawingml/2006/table">
            <a:tbl>
              <a:tblPr/>
              <a:tblGrid>
                <a:gridCol w="1370671">
                  <a:extLst>
                    <a:ext uri="{9D8B030D-6E8A-4147-A177-3AD203B41FA5}">
                      <a16:colId xmlns:a16="http://schemas.microsoft.com/office/drawing/2014/main" val="972193757"/>
                    </a:ext>
                  </a:extLst>
                </a:gridCol>
                <a:gridCol w="888398">
                  <a:extLst>
                    <a:ext uri="{9D8B030D-6E8A-4147-A177-3AD203B41FA5}">
                      <a16:colId xmlns:a16="http://schemas.microsoft.com/office/drawing/2014/main" val="3594579385"/>
                    </a:ext>
                  </a:extLst>
                </a:gridCol>
                <a:gridCol w="828114">
                  <a:extLst>
                    <a:ext uri="{9D8B030D-6E8A-4147-A177-3AD203B41FA5}">
                      <a16:colId xmlns:a16="http://schemas.microsoft.com/office/drawing/2014/main" val="271569235"/>
                    </a:ext>
                  </a:extLst>
                </a:gridCol>
                <a:gridCol w="1599117">
                  <a:extLst>
                    <a:ext uri="{9D8B030D-6E8A-4147-A177-3AD203B41FA5}">
                      <a16:colId xmlns:a16="http://schemas.microsoft.com/office/drawing/2014/main" val="37452557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cliente_id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preco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data_entrega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10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774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15.00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372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6606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724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1550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162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4304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E1A78B4-2BD2-3B0D-CDD5-5F2658A562A8}"/>
              </a:ext>
            </a:extLst>
          </p:cNvPr>
          <p:cNvSpPr txBox="1"/>
          <p:nvPr/>
        </p:nvSpPr>
        <p:spPr>
          <a:xfrm>
            <a:off x="842078" y="1651651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595F6-46D0-273B-4A99-DF03889B3BEF}"/>
              </a:ext>
            </a:extLst>
          </p:cNvPr>
          <p:cNvSpPr txBox="1"/>
          <p:nvPr/>
        </p:nvSpPr>
        <p:spPr>
          <a:xfrm>
            <a:off x="4813823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28F1FF-6A65-EE8B-5E10-5E3ABD84EDE6}"/>
              </a:ext>
            </a:extLst>
          </p:cNvPr>
          <p:cNvSpPr txBox="1"/>
          <p:nvPr/>
        </p:nvSpPr>
        <p:spPr>
          <a:xfrm>
            <a:off x="5957412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1845D-21FD-0676-89C7-11E8FB87A4F6}"/>
              </a:ext>
            </a:extLst>
          </p:cNvPr>
          <p:cNvSpPr txBox="1"/>
          <p:nvPr/>
        </p:nvSpPr>
        <p:spPr>
          <a:xfrm>
            <a:off x="3349859" y="2565534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6525F-9770-7407-8F5E-1972867EC699}"/>
              </a:ext>
            </a:extLst>
          </p:cNvPr>
          <p:cNvSpPr txBox="1"/>
          <p:nvPr/>
        </p:nvSpPr>
        <p:spPr>
          <a:xfrm>
            <a:off x="-146727" y="24078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0991F-6275-7940-B0C6-E4943322F8E3}"/>
              </a:ext>
            </a:extLst>
          </p:cNvPr>
          <p:cNvSpPr txBox="1"/>
          <p:nvPr/>
        </p:nvSpPr>
        <p:spPr>
          <a:xfrm>
            <a:off x="563441" y="4436256"/>
            <a:ext cx="10948831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Exemplo real</a:t>
            </a: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Duas tabelas, clientes e entregas, retiradas de um CRM como por exemplo o SalesForce.</a:t>
            </a:r>
          </a:p>
          <a:p>
            <a:endParaRPr lang="en-PT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 Departmento de Marketing implementou um concurso para incentivar os clientes a </a:t>
            </a: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requisitarem entregas. Deste modo, precisam de saber quais clientes fizeram mais </a:t>
            </a: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requisições para entregarem o prémio.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7" name="Picture 4" descr="Key ">
            <a:extLst>
              <a:ext uri="{FF2B5EF4-FFF2-40B4-BE49-F238E27FC236}">
                <a16:creationId xmlns:a16="http://schemas.microsoft.com/office/drawing/2014/main" id="{9E940B99-5F93-5105-497F-829B3677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812" y="1684243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Key ">
            <a:extLst>
              <a:ext uri="{FF2B5EF4-FFF2-40B4-BE49-F238E27FC236}">
                <a16:creationId xmlns:a16="http://schemas.microsoft.com/office/drawing/2014/main" id="{E2E6B7BB-01C6-9EBE-6A1D-C7BD09AC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4" y="1661155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Key ">
            <a:extLst>
              <a:ext uri="{FF2B5EF4-FFF2-40B4-BE49-F238E27FC236}">
                <a16:creationId xmlns:a16="http://schemas.microsoft.com/office/drawing/2014/main" id="{1124964B-51AE-44E8-03F0-F6862816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908" y="1661155"/>
            <a:ext cx="287239" cy="28723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987F7F-45E5-E09B-91E1-8685BA65C445}"/>
              </a:ext>
            </a:extLst>
          </p:cNvPr>
          <p:cNvSpPr/>
          <p:nvPr/>
        </p:nvSpPr>
        <p:spPr>
          <a:xfrm>
            <a:off x="775481" y="1543025"/>
            <a:ext cx="504680" cy="2060162"/>
          </a:xfrm>
          <a:prstGeom prst="rect">
            <a:avLst/>
          </a:prstGeom>
          <a:noFill/>
          <a:ln w="19050">
            <a:solidFill>
              <a:srgbClr val="FFE4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B728A-DDDB-2A3B-B95F-187349C46491}"/>
              </a:ext>
            </a:extLst>
          </p:cNvPr>
          <p:cNvSpPr/>
          <p:nvPr/>
        </p:nvSpPr>
        <p:spPr>
          <a:xfrm>
            <a:off x="5614288" y="1543024"/>
            <a:ext cx="1027143" cy="2220454"/>
          </a:xfrm>
          <a:prstGeom prst="rect">
            <a:avLst/>
          </a:prstGeom>
          <a:noFill/>
          <a:ln w="19050">
            <a:solidFill>
              <a:srgbClr val="FFE4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5" name="Picture 4" descr="A blue cloud with black text&#10;&#10;Description automatically generated">
            <a:extLst>
              <a:ext uri="{FF2B5EF4-FFF2-40B4-BE49-F238E27FC236}">
                <a16:creationId xmlns:a16="http://schemas.microsoft.com/office/drawing/2014/main" id="{5650B27F-B909-8773-8C8A-C94AA813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43462">
            <a:off x="9942653" y="3765184"/>
            <a:ext cx="1234159" cy="86556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C5C96F7-4C68-53E1-AAC3-BC80A8DB1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04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clientes.id,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clientes.nome,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COUNT(entregas.id) as total_entregas,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SUM(preco) as total_preco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clientes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entregas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clientes.id = entregas.client_id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entregas.data_inicial &gt; 2022-02-02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clientes.id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total_preco &gt; 100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total_preco DESC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37565"/>
              </p:ext>
            </p:extLst>
          </p:nvPr>
        </p:nvGraphicFramePr>
        <p:xfrm>
          <a:off x="200521" y="3191802"/>
          <a:ext cx="7372416" cy="9056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  <a:gridCol w="2101108">
                  <a:extLst>
                    <a:ext uri="{9D8B030D-6E8A-4147-A177-3AD203B41FA5}">
                      <a16:colId xmlns:a16="http://schemas.microsoft.com/office/drawing/2014/main" val="27961883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total_entregas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total_preco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1000.00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F96E33-B6DE-3079-930A-38EA87948206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criada uma nova tabela com os atributos das duas tabelas do JOIN</a:t>
            </a:r>
          </a:p>
          <a:p>
            <a:pPr marL="228600" indent="-228600">
              <a:buFont typeface="+mj-lt"/>
              <a:buAutoNum type="arabicPeriod"/>
            </a:pPr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percorrida a coluna id da tabela clientes e identificação da sua correspondência na tabela entregas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BC915E-0AED-196F-A3F5-A6BC0F4A85FF}"/>
              </a:ext>
            </a:extLst>
          </p:cNvPr>
          <p:cNvSpPr/>
          <p:nvPr/>
        </p:nvSpPr>
        <p:spPr>
          <a:xfrm>
            <a:off x="200521" y="1580453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D42ECD-6FDC-B32A-7E47-7A21775F91E2}"/>
              </a:ext>
            </a:extLst>
          </p:cNvPr>
          <p:cNvSpPr/>
          <p:nvPr/>
        </p:nvSpPr>
        <p:spPr>
          <a:xfrm>
            <a:off x="3325360" y="1576735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8690B2-48EA-BB8C-10B7-DBB1E3403427}"/>
              </a:ext>
            </a:extLst>
          </p:cNvPr>
          <p:cNvSpPr/>
          <p:nvPr/>
        </p:nvSpPr>
        <p:spPr>
          <a:xfrm>
            <a:off x="794479" y="3823669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D58CD-AAC8-CC96-60E4-C87B257B9979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H="1" flipV="1">
            <a:off x="395393" y="1961479"/>
            <a:ext cx="593958" cy="1862190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3726F4-41D9-F443-F0A8-57B54BFF624D}"/>
              </a:ext>
            </a:extLst>
          </p:cNvPr>
          <p:cNvCxnSpPr>
            <a:cxnSpLocks/>
            <a:stCxn id="7" idx="6"/>
            <a:endCxn id="6" idx="3"/>
          </p:cNvCxnSpPr>
          <p:nvPr/>
        </p:nvCxnSpPr>
        <p:spPr>
          <a:xfrm flipV="1">
            <a:off x="1184223" y="1901961"/>
            <a:ext cx="2198214" cy="2112221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F22481-11DF-1432-40CF-DE0912906A63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C198D0-D9AD-BDD8-7D34-B8C0D88E6A20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06529D-FDBB-EDB7-9AB4-F722CD8D55BF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51D47C-FC31-DA4F-FEB4-FE4CE0AE91BF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D993B5E-DA6E-0BC6-4EAF-E17F53417334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9717133-0882-4F59-EE41-267F555DF618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pic>
        <p:nvPicPr>
          <p:cNvPr id="31" name="Picture 2">
            <a:extLst>
              <a:ext uri="{FF2B5EF4-FFF2-40B4-BE49-F238E27FC236}">
                <a16:creationId xmlns:a16="http://schemas.microsoft.com/office/drawing/2014/main" id="{6B28DE9D-0B5E-3A27-03B5-57E458786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93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clientes.id,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clientes.nome,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COUNT(entregas.id) as total_entregas,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SUM(preco) as total_preco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clientes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entregas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clientes.id = entregas.client_id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entregas.data_inicial &gt; 2022-02-02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clientes.id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total_preco &gt; 100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total_preco DESC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868710"/>
              </p:ext>
            </p:extLst>
          </p:nvPr>
        </p:nvGraphicFramePr>
        <p:xfrm>
          <a:off x="200521" y="3191802"/>
          <a:ext cx="7372416" cy="13584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  <a:gridCol w="2101108">
                  <a:extLst>
                    <a:ext uri="{9D8B030D-6E8A-4147-A177-3AD203B41FA5}">
                      <a16:colId xmlns:a16="http://schemas.microsoft.com/office/drawing/2014/main" val="27961883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total_entregas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total_preco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1000.00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785775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D5422E2D-962A-81DA-09D7-3B97533B0C28}"/>
              </a:ext>
            </a:extLst>
          </p:cNvPr>
          <p:cNvSpPr/>
          <p:nvPr/>
        </p:nvSpPr>
        <p:spPr>
          <a:xfrm>
            <a:off x="794479" y="4273373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0172DB-EE44-7DFC-8C5F-649BF2831BC2}"/>
              </a:ext>
            </a:extLst>
          </p:cNvPr>
          <p:cNvCxnSpPr>
            <a:cxnSpLocks/>
          </p:cNvCxnSpPr>
          <p:nvPr/>
        </p:nvCxnSpPr>
        <p:spPr>
          <a:xfrm flipH="1" flipV="1">
            <a:off x="414670" y="1935126"/>
            <a:ext cx="589671" cy="2427011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ABA4B5-693C-C35B-B0E7-D3804F53BA33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1184223" y="2169042"/>
            <a:ext cx="2313889" cy="2294844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02AFB1-AB94-74DE-4C26-541C01A6D244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6327361-2ED3-A412-962B-23C77F87CEBC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1F82B8D-1496-EFEF-A401-100D6D7F8127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2F4FE1-5A23-F3CB-B808-4462D55A6D06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EE41EE-A481-DE5E-DBDC-DD8294370B9E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5580E38-8B29-5552-130A-38EC1CFD54B1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C77934C-E903-E167-CAA0-90143244152A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pic>
        <p:nvPicPr>
          <p:cNvPr id="47" name="Picture 2">
            <a:extLst>
              <a:ext uri="{FF2B5EF4-FFF2-40B4-BE49-F238E27FC236}">
                <a16:creationId xmlns:a16="http://schemas.microsoft.com/office/drawing/2014/main" id="{85F16136-925E-F961-2329-57853C839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43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clientes.id,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clientes.nome,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COUNT(entregas.id) as total_entregas,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SUM(preco) as total_preco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clientes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entregas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clientes.id = entregas.client_id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entregas.data_inicial &gt; 2022-02-02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clientes.id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total_preco &gt; 100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total_preco DESC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80108"/>
              </p:ext>
            </p:extLst>
          </p:nvPr>
        </p:nvGraphicFramePr>
        <p:xfrm>
          <a:off x="200521" y="3191802"/>
          <a:ext cx="7372416" cy="1811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  <a:gridCol w="2101108">
                  <a:extLst>
                    <a:ext uri="{9D8B030D-6E8A-4147-A177-3AD203B41FA5}">
                      <a16:colId xmlns:a16="http://schemas.microsoft.com/office/drawing/2014/main" val="27961883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total_entregas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total_preco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1000.00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785775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71473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D5422E2D-962A-81DA-09D7-3B97533B0C28}"/>
              </a:ext>
            </a:extLst>
          </p:cNvPr>
          <p:cNvSpPr/>
          <p:nvPr/>
        </p:nvSpPr>
        <p:spPr>
          <a:xfrm>
            <a:off x="794479" y="4698685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0172DB-EE44-7DFC-8C5F-649BF2831BC2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435935" y="2159315"/>
            <a:ext cx="553416" cy="2539370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ABA4B5-693C-C35B-B0E7-D3804F53BA33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1184223" y="2434856"/>
            <a:ext cx="2335154" cy="2454342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11C73B-4CED-4D87-D464-C2CB665DA739}"/>
              </a:ext>
            </a:extLst>
          </p:cNvPr>
          <p:cNvCxnSpPr>
            <a:cxnSpLocks/>
          </p:cNvCxnSpPr>
          <p:nvPr/>
        </p:nvCxnSpPr>
        <p:spPr>
          <a:xfrm flipV="1">
            <a:off x="1084521" y="1903263"/>
            <a:ext cx="2434856" cy="2849526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755E2D-0E91-EC10-3A4C-B4925472FB34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27A928-DCB7-FCD3-9692-D696BC8FDC12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13CB554-9116-86BC-3FDA-2CB9D2379FAA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45B33A-20D3-2A2C-1CA9-4FDFC680B186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2AB579-A716-32BA-4EB2-D8E627C0B7CC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682A0B-5062-9820-2738-DE57ED448A42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41459D-4C2C-15E8-9E6A-03C0D1273F95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pic>
        <p:nvPicPr>
          <p:cNvPr id="30" name="Picture 2">
            <a:extLst>
              <a:ext uri="{FF2B5EF4-FFF2-40B4-BE49-F238E27FC236}">
                <a16:creationId xmlns:a16="http://schemas.microsoft.com/office/drawing/2014/main" id="{C6073107-19D0-00DB-3B32-8746A283E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93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1BF339-A505-54FA-FD79-EB666FA9D9A2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clientes.id,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clientes.nome,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COUNT(entregas.id) as total_entregas, 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SUM(preco) as total_preco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clientes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 JOIN entregas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clientes.id = entregas.client_id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entregas.data_inicial &gt; 2022-02-02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clientes.id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HAVING total_preco &gt; 100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 BY total_preco DESC</a:t>
            </a:r>
          </a:p>
          <a:p>
            <a:r>
              <a:rPr lang="en-PT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19787"/>
              </p:ext>
            </p:extLst>
          </p:nvPr>
        </p:nvGraphicFramePr>
        <p:xfrm>
          <a:off x="200521" y="3191802"/>
          <a:ext cx="7372416" cy="2264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  <a:gridCol w="2101108">
                  <a:extLst>
                    <a:ext uri="{9D8B030D-6E8A-4147-A177-3AD203B41FA5}">
                      <a16:colId xmlns:a16="http://schemas.microsoft.com/office/drawing/2014/main" val="27961883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total_entregas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total_preco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1000.00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785775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7147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83804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1F750A95-E0E3-C1E6-8D03-4E8E61ED077B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1F77CC2-23F8-1D48-5F18-A678ED2FAA30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FBEFAC-9410-A4CF-8FB4-98E069E914F3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45B717-0192-8931-A4C1-05713283EBAF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DEF5374-E1DE-A856-CD69-A55632162DB3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E52D0D-0A15-FC75-78D7-8F2589696295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D5422E2D-962A-81DA-09D7-3B97533B0C28}"/>
              </a:ext>
            </a:extLst>
          </p:cNvPr>
          <p:cNvSpPr/>
          <p:nvPr/>
        </p:nvSpPr>
        <p:spPr>
          <a:xfrm>
            <a:off x="794479" y="5172448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0172DB-EE44-7DFC-8C5F-649BF2831BC2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415664" y="2442492"/>
            <a:ext cx="435892" cy="2785756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ABA4B5-693C-C35B-B0E7-D3804F53BA33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1184223" y="2540079"/>
            <a:ext cx="2335154" cy="2822882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11C73B-4CED-4D87-D464-C2CB665DA739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989351" y="2018286"/>
            <a:ext cx="2530026" cy="3154162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E9D43EDF-FB85-D372-1E05-167629CF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56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B76DB-1FB4-0FEF-123F-910757C3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2BDC004-8E10-C884-5F9B-9E5C8D453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6354" y="3346633"/>
            <a:ext cx="2405626" cy="35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table and table&#10;&#10;Description automatically generated">
            <a:extLst>
              <a:ext uri="{FF2B5EF4-FFF2-40B4-BE49-F238E27FC236}">
                <a16:creationId xmlns:a16="http://schemas.microsoft.com/office/drawing/2014/main" id="{14B83BB1-304E-2AAA-466B-A515855C5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752" y="742299"/>
            <a:ext cx="2827347" cy="17346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E5E3E3-4EDA-245C-E5F3-53F11C18EB6A}"/>
              </a:ext>
            </a:extLst>
          </p:cNvPr>
          <p:cNvSpPr txBox="1"/>
          <p:nvPr/>
        </p:nvSpPr>
        <p:spPr>
          <a:xfrm>
            <a:off x="572583" y="2476982"/>
            <a:ext cx="4589684" cy="64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INNER JOIN = JOIN</a:t>
            </a:r>
            <a:endParaRPr lang="en-PT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AFC1B-1353-CC9E-E3E3-4994BFFE4F4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INNER JOIN (Conclusão)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32D78-68E2-093A-6EEE-8B0B8D094525}"/>
              </a:ext>
            </a:extLst>
          </p:cNvPr>
          <p:cNvSpPr txBox="1"/>
          <p:nvPr/>
        </p:nvSpPr>
        <p:spPr>
          <a:xfrm>
            <a:off x="882791" y="3222601"/>
            <a:ext cx="80065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 INNER JOIN serve para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combinar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dados de duas (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relacionais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devolvendo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apenas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têm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correspondência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ambas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 base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condição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junção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</a:p>
          <a:p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simples:  O INNER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mostra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só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existe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duas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mesmo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tempo.</a:t>
            </a:r>
          </a:p>
          <a:p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 INNER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é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quando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pretende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Relacionar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através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chaves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primárias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estrangeiras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Obter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informação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completa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está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repartida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várias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Excluir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relação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06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929</Words>
  <Application>Microsoft Macintosh PowerPoint</Application>
  <PresentationFormat>Widescreen</PresentationFormat>
  <Paragraphs>307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José Augusto Da Rocha Gonçalves</dc:creator>
  <cp:lastModifiedBy>José Augusto Da Rocha Gonçalves</cp:lastModifiedBy>
  <cp:revision>8</cp:revision>
  <dcterms:created xsi:type="dcterms:W3CDTF">2023-12-09T19:36:02Z</dcterms:created>
  <dcterms:modified xsi:type="dcterms:W3CDTF">2026-04-14T10:14:20Z</dcterms:modified>
</cp:coreProperties>
</file>